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61" r:id="rId9"/>
    <p:sldId id="283" r:id="rId10"/>
    <p:sldId id="264" r:id="rId11"/>
    <p:sldId id="266" r:id="rId12"/>
    <p:sldId id="284" r:id="rId13"/>
    <p:sldId id="28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11/25/2025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6010" y="2622884"/>
            <a:ext cx="7986810" cy="1451420"/>
          </a:xfrm>
        </p:spPr>
        <p:txBody>
          <a:bodyPr/>
          <a:lstStyle/>
          <a:p>
            <a:r>
              <a:rPr lang="en-US" sz="4400" dirty="0"/>
              <a:t>Title: </a:t>
            </a:r>
            <a:r>
              <a:rPr lang="en-US" sz="4400" dirty="0">
                <a:solidFill>
                  <a:schemeClr val="bg1"/>
                </a:solidFill>
              </a:rPr>
              <a:t>Bangalore House Price Prediction</a:t>
            </a:r>
            <a:endParaRPr lang="en-US" sz="4400" b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FAE47E-572F-318D-9520-3F0D20DDAC54}"/>
              </a:ext>
            </a:extLst>
          </p:cNvPr>
          <p:cNvSpPr txBox="1">
            <a:spLocks/>
          </p:cNvSpPr>
          <p:nvPr/>
        </p:nvSpPr>
        <p:spPr>
          <a:xfrm>
            <a:off x="3980201" y="401052"/>
            <a:ext cx="7068800" cy="11951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CT UNIVERSITY</a:t>
            </a:r>
            <a:endParaRPr lang="en-US" b="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CF5903-A6EF-6F8F-F808-66AB14B707AF}"/>
              </a:ext>
            </a:extLst>
          </p:cNvPr>
          <p:cNvSpPr txBox="1">
            <a:spLocks/>
          </p:cNvSpPr>
          <p:nvPr/>
        </p:nvSpPr>
        <p:spPr>
          <a:xfrm>
            <a:off x="4036347" y="1596189"/>
            <a:ext cx="7302213" cy="9621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sz="5400">
                <a:solidFill>
                  <a:schemeClr val="bg1"/>
                </a:solidFill>
              </a:rPr>
              <a:t>Blockchain Project</a:t>
            </a:r>
            <a:endParaRPr lang="en-US" sz="5400" b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B852B-0FC3-68D1-FA38-9C4618375697}"/>
              </a:ext>
            </a:extLst>
          </p:cNvPr>
          <p:cNvSpPr txBox="1"/>
          <p:nvPr/>
        </p:nvSpPr>
        <p:spPr>
          <a:xfrm>
            <a:off x="6847573" y="4227506"/>
            <a:ext cx="3043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Team Members: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F59B9-14EB-6E29-4BD5-BFAF514488E7}"/>
              </a:ext>
            </a:extLst>
          </p:cNvPr>
          <p:cNvSpPr txBox="1"/>
          <p:nvPr/>
        </p:nvSpPr>
        <p:spPr>
          <a:xfrm>
            <a:off x="6847572" y="4738591"/>
            <a:ext cx="49329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A. Mani Teja – 72212438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G. Sai Prasanna – 72211501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A. Yaswanth Naidu -72211240</a:t>
            </a:r>
            <a:endParaRPr lang="en-IN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38" y="333956"/>
            <a:ext cx="8065406" cy="1574358"/>
          </a:xfrm>
        </p:spPr>
        <p:txBody>
          <a:bodyPr>
            <a:normAutofit/>
          </a:bodyPr>
          <a:lstStyle/>
          <a:p>
            <a:r>
              <a:rPr lang="en-IN" dirty="0"/>
              <a:t>Problem Statement &amp; Project Goal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7648B-D1AB-F68A-AC4A-A2E7D18F5310}"/>
              </a:ext>
            </a:extLst>
          </p:cNvPr>
          <p:cNvSpPr txBox="1"/>
          <p:nvPr/>
        </p:nvSpPr>
        <p:spPr>
          <a:xfrm>
            <a:off x="434538" y="2091193"/>
            <a:ext cx="756169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Problem: 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Bangalore real estate market is vast and complex.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Determining a fair price for a property is challenging for both buyers and sellers.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Prices are influenced by multiple factors: Location, Size (sq. ft.), Number of Bedrooms (BHK), Number of Bathrooms.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The Goal: </a:t>
            </a:r>
          </a:p>
          <a:p>
            <a:r>
              <a:rPr lang="en-US" sz="2000" dirty="0">
                <a:solidFill>
                  <a:schemeClr val="bg1"/>
                </a:solidFill>
              </a:rPr>
              <a:t>To develop a user-friendly web application that accurately predicts house prices in Bangalore. </a:t>
            </a:r>
          </a:p>
          <a:p>
            <a:r>
              <a:rPr lang="en-US" sz="2000" dirty="0">
                <a:solidFill>
                  <a:schemeClr val="bg1"/>
                </a:solidFill>
              </a:rPr>
              <a:t>Empower users to make informed financial decisions by providing instant price estimations.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646" y="308113"/>
            <a:ext cx="7781544" cy="859055"/>
          </a:xfrm>
        </p:spPr>
        <p:txBody>
          <a:bodyPr/>
          <a:lstStyle/>
          <a:p>
            <a:r>
              <a:rPr lang="en-IN" dirty="0"/>
              <a:t>Solution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B8508-C221-C939-3F7E-3B9D7A1857D4}"/>
              </a:ext>
            </a:extLst>
          </p:cNvPr>
          <p:cNvSpPr txBox="1"/>
          <p:nvPr/>
        </p:nvSpPr>
        <p:spPr>
          <a:xfrm>
            <a:off x="540689" y="1455089"/>
            <a:ext cx="83170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 End-to-End ML Web App: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Backend: Python with Flask framework to handle web requests and business logic.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Machine Learning: A trained model to perform the core prediction.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Frontend: (Assumed - HTML/CSS/JS) A simple interface for users to input details.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Key Features: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Dynamic dropdown for Bangalore locations.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Inputs for square footage, BHK, and bathrooms.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Instant price estimation in Lakh Rupees.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System Architecture &amp; Data Flow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C9A3B-F442-0B26-6EDE-69853C354AF6}"/>
              </a:ext>
            </a:extLst>
          </p:cNvPr>
          <p:cNvSpPr txBox="1"/>
          <p:nvPr/>
        </p:nvSpPr>
        <p:spPr>
          <a:xfrm>
            <a:off x="675861" y="1431235"/>
            <a:ext cx="86351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High-Level Workflow: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User enters details (Location, Sq. Ft., BHK, Bath) in the Web Interface.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Browser sends this data to the Flask Server (app.py/server.py).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Flask Server calls the util.py module.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util.py preprocesses the input, loads the ML model, and gets the prediction.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ML Model (</a:t>
            </a:r>
            <a:r>
              <a:rPr lang="en-US" sz="2400" dirty="0" err="1">
                <a:solidFill>
                  <a:schemeClr val="bg1"/>
                </a:solidFill>
              </a:rPr>
              <a:t>home_price_model.pkl</a:t>
            </a:r>
            <a:r>
              <a:rPr lang="en-US" sz="2400" dirty="0">
                <a:solidFill>
                  <a:schemeClr val="bg1"/>
                </a:solidFill>
              </a:rPr>
              <a:t>/</a:t>
            </a:r>
            <a:r>
              <a:rPr lang="en-US" sz="2400" dirty="0" err="1">
                <a:solidFill>
                  <a:schemeClr val="bg1"/>
                </a:solidFill>
              </a:rPr>
              <a:t>banglore_home_prices_model.pickle</a:t>
            </a:r>
            <a:r>
              <a:rPr lang="en-US" sz="2400" dirty="0">
                <a:solidFill>
                  <a:schemeClr val="bg1"/>
                </a:solidFill>
              </a:rPr>
              <a:t>) returns the estimated price.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</a:rPr>
              <a:t>The price is sent back through the server to the user's browser.</a:t>
            </a: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IN" sz="4800" dirty="0"/>
              <a:t>Technology Stack</a:t>
            </a:r>
            <a:endParaRPr lang="en-US" sz="4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9D4134-1174-1181-6865-0A3B176C38C1}"/>
              </a:ext>
            </a:extLst>
          </p:cNvPr>
          <p:cNvSpPr txBox="1"/>
          <p:nvPr/>
        </p:nvSpPr>
        <p:spPr>
          <a:xfrm>
            <a:off x="739470" y="1558456"/>
            <a:ext cx="1007430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</a:rPr>
              <a:t>Backend &amp; ML: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Python: </a:t>
            </a:r>
            <a:r>
              <a:rPr lang="en-US" sz="2400" dirty="0">
                <a:solidFill>
                  <a:schemeClr val="bg1"/>
                </a:solidFill>
              </a:rPr>
              <a:t>Core programming language.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Flask: </a:t>
            </a:r>
            <a:r>
              <a:rPr lang="en-US" sz="2400" dirty="0">
                <a:solidFill>
                  <a:schemeClr val="bg1"/>
                </a:solidFill>
              </a:rPr>
              <a:t>Micro web framework for creating the API server. </a:t>
            </a:r>
          </a:p>
          <a:p>
            <a:r>
              <a:rPr lang="en-US" sz="3600" b="1" dirty="0">
                <a:solidFill>
                  <a:srgbClr val="00B0F0"/>
                </a:solidFill>
              </a:rPr>
              <a:t>Machine Learning: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scikit-learn: </a:t>
            </a:r>
            <a:r>
              <a:rPr lang="en-US" sz="2400" dirty="0">
                <a:solidFill>
                  <a:schemeClr val="bg1"/>
                </a:solidFill>
              </a:rPr>
              <a:t>(Inferred) Library used to build and train the regression model.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NumPy &amp; Pandas: </a:t>
            </a:r>
            <a:r>
              <a:rPr lang="en-US" sz="2400" dirty="0">
                <a:solidFill>
                  <a:schemeClr val="bg1"/>
                </a:solidFill>
              </a:rPr>
              <a:t>For data manipulation and numerical computations. </a:t>
            </a:r>
          </a:p>
          <a:p>
            <a:r>
              <a:rPr lang="en-US" sz="3600" b="1" dirty="0">
                <a:solidFill>
                  <a:srgbClr val="00B0F0"/>
                </a:solidFill>
              </a:rPr>
              <a:t>Data Handling: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Pickle: </a:t>
            </a:r>
            <a:r>
              <a:rPr lang="en-US" sz="2400" dirty="0">
                <a:solidFill>
                  <a:schemeClr val="bg1"/>
                </a:solidFill>
              </a:rPr>
              <a:t>For saving and loading the trained model.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JSON: </a:t>
            </a:r>
            <a:r>
              <a:rPr lang="en-US" sz="2400" dirty="0">
                <a:solidFill>
                  <a:schemeClr val="bg1"/>
                </a:solidFill>
              </a:rPr>
              <a:t>For storing feature/column information. 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 Code Structure Deep Dive (1/2)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66C62E-36FA-92D3-37CA-09F2AF13BF85}"/>
              </a:ext>
            </a:extLst>
          </p:cNvPr>
          <p:cNvSpPr txBox="1"/>
          <p:nvPr/>
        </p:nvSpPr>
        <p:spPr>
          <a:xfrm>
            <a:off x="636103" y="1494845"/>
            <a:ext cx="993118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util.py - </a:t>
            </a:r>
            <a:r>
              <a:rPr lang="en-US" sz="2800" b="1" dirty="0">
                <a:solidFill>
                  <a:srgbClr val="00B0F0"/>
                </a:solidFill>
              </a:rPr>
              <a:t>The Brain of the 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load_saved_artifacts</a:t>
            </a:r>
            <a:r>
              <a:rPr lang="en-US" sz="2800" b="1" dirty="0">
                <a:solidFill>
                  <a:schemeClr val="bg1"/>
                </a:solidFill>
              </a:rPr>
              <a:t>(): </a:t>
            </a:r>
            <a:r>
              <a:rPr lang="en-US" sz="2800" dirty="0">
                <a:solidFill>
                  <a:schemeClr val="bg1"/>
                </a:solidFill>
              </a:rPr>
              <a:t>Loads the model (*.pickle file) and feature columns (</a:t>
            </a:r>
            <a:r>
              <a:rPr lang="en-US" sz="2800" dirty="0" err="1">
                <a:solidFill>
                  <a:schemeClr val="bg1"/>
                </a:solidFill>
              </a:rPr>
              <a:t>columns.json</a:t>
            </a:r>
            <a:r>
              <a:rPr lang="en-US" sz="2800" dirty="0">
                <a:solidFill>
                  <a:schemeClr val="bg1"/>
                </a:solidFill>
              </a:rPr>
              <a:t>) into memory on server start.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get_location_names</a:t>
            </a:r>
            <a:r>
              <a:rPr lang="en-US" sz="2800" b="1" dirty="0">
                <a:solidFill>
                  <a:schemeClr val="bg1"/>
                </a:solidFill>
              </a:rPr>
              <a:t>(): </a:t>
            </a:r>
            <a:r>
              <a:rPr lang="en-US" sz="2800" dirty="0">
                <a:solidFill>
                  <a:schemeClr val="bg1"/>
                </a:solidFill>
              </a:rPr>
              <a:t>Returns the list of available locations for the dropdown.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get_estimated_price</a:t>
            </a:r>
            <a:r>
              <a:rPr lang="en-US" sz="2800" b="1" dirty="0">
                <a:solidFill>
                  <a:schemeClr val="bg1"/>
                </a:solidFill>
              </a:rPr>
              <a:t>(): </a:t>
            </a:r>
            <a:r>
              <a:rPr lang="en-US" sz="2800" dirty="0">
                <a:solidFill>
                  <a:schemeClr val="bg1"/>
                </a:solidFill>
              </a:rPr>
              <a:t>The core function that: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Validates the input location.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Uses fuzzy matching (</a:t>
            </a:r>
            <a:r>
              <a:rPr lang="en-US" sz="2400" dirty="0" err="1">
                <a:solidFill>
                  <a:schemeClr val="bg1"/>
                </a:solidFill>
              </a:rPr>
              <a:t>difflib</a:t>
            </a:r>
            <a:r>
              <a:rPr lang="en-US" sz="2400" dirty="0">
                <a:solidFill>
                  <a:schemeClr val="bg1"/>
                </a:solidFill>
              </a:rPr>
              <a:t>) to suggest similar location names if a typo is made.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</a:rPr>
              <a:t>Creates the input vector for the model and returns the prediction.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IN" sz="4000" dirty="0"/>
              <a:t>Code Structure Deep Dive (2/2)</a:t>
            </a:r>
            <a:endParaRPr lang="en-US" sz="4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A3420-BFED-D5AC-16F9-A8063D2B4D18}"/>
              </a:ext>
            </a:extLst>
          </p:cNvPr>
          <p:cNvSpPr txBox="1"/>
          <p:nvPr/>
        </p:nvSpPr>
        <p:spPr>
          <a:xfrm>
            <a:off x="444500" y="1296063"/>
            <a:ext cx="1059908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00B0F0"/>
                </a:solidFill>
              </a:rPr>
              <a:t>app.py / server.py - </a:t>
            </a:r>
            <a:r>
              <a:rPr lang="en-US" sz="2600" b="1" dirty="0">
                <a:solidFill>
                  <a:srgbClr val="00B0F0"/>
                </a:solidFill>
              </a:rPr>
              <a:t>The Controllers 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Flask Server Setup: </a:t>
            </a:r>
            <a:r>
              <a:rPr lang="en-US" sz="2600" dirty="0">
                <a:solidFill>
                  <a:schemeClr val="bg1"/>
                </a:solidFill>
              </a:rPr>
              <a:t>Initializes the app and enables CORS. </a:t>
            </a:r>
          </a:p>
          <a:p>
            <a:r>
              <a:rPr lang="en-US" sz="2600" b="1" dirty="0">
                <a:solidFill>
                  <a:srgbClr val="00B0F0"/>
                </a:solidFill>
              </a:rPr>
              <a:t>API Endpoints: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bg1"/>
                </a:solidFill>
              </a:rPr>
              <a:t>GET /</a:t>
            </a:r>
            <a:r>
              <a:rPr lang="en-US" sz="2600" b="1" dirty="0" err="1">
                <a:solidFill>
                  <a:schemeClr val="bg1"/>
                </a:solidFill>
              </a:rPr>
              <a:t>get_location_names</a:t>
            </a:r>
            <a:r>
              <a:rPr lang="en-US" sz="2600" b="1" dirty="0">
                <a:solidFill>
                  <a:schemeClr val="bg1"/>
                </a:solidFill>
              </a:rPr>
              <a:t>: </a:t>
            </a:r>
            <a:r>
              <a:rPr lang="en-US" sz="2600" dirty="0">
                <a:solidFill>
                  <a:schemeClr val="bg1"/>
                </a:solidFill>
              </a:rPr>
              <a:t>Fetches the list of locations from util.py.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chemeClr val="bg1"/>
                </a:solidFill>
              </a:rPr>
              <a:t>POST /</a:t>
            </a:r>
            <a:r>
              <a:rPr lang="en-US" sz="2600" b="1" dirty="0" err="1">
                <a:solidFill>
                  <a:schemeClr val="bg1"/>
                </a:solidFill>
              </a:rPr>
              <a:t>predict_home_price</a:t>
            </a:r>
            <a:r>
              <a:rPr lang="en-US" sz="2600" b="1" dirty="0">
                <a:solidFill>
                  <a:schemeClr val="bg1"/>
                </a:solidFill>
              </a:rPr>
              <a:t>: </a:t>
            </a:r>
            <a:r>
              <a:rPr lang="en-US" sz="2600" dirty="0">
                <a:solidFill>
                  <a:schemeClr val="bg1"/>
                </a:solidFill>
              </a:rPr>
              <a:t>Accepts user input, performs validation, calls </a:t>
            </a:r>
            <a:r>
              <a:rPr lang="en-US" sz="2600" dirty="0" err="1">
                <a:solidFill>
                  <a:schemeClr val="bg1"/>
                </a:solidFill>
              </a:rPr>
              <a:t>util.get_estimated_price</a:t>
            </a:r>
            <a:r>
              <a:rPr lang="en-US" sz="2600" dirty="0">
                <a:solidFill>
                  <a:schemeClr val="bg1"/>
                </a:solidFill>
              </a:rPr>
              <a:t>(), and returns the result as JSON. </a:t>
            </a:r>
          </a:p>
          <a:p>
            <a:r>
              <a:rPr lang="en-US" sz="2600" b="1" dirty="0">
                <a:solidFill>
                  <a:srgbClr val="00B0F0"/>
                </a:solidFill>
              </a:rPr>
              <a:t>Robust Error Handling: </a:t>
            </a:r>
            <a:r>
              <a:rPr lang="en-US" sz="2600" dirty="0">
                <a:solidFill>
                  <a:schemeClr val="bg1"/>
                </a:solidFill>
              </a:rPr>
              <a:t>Catches exceptions (missing files, invalid inputs, unknown locations) and returns meaningful error messages to the client. </a:t>
            </a:r>
          </a:p>
          <a:p>
            <a:r>
              <a:rPr lang="en-US" sz="2600" dirty="0">
                <a:solidFill>
                  <a:srgbClr val="00B0F0"/>
                </a:solidFill>
              </a:rPr>
              <a:t>test_model.py - </a:t>
            </a:r>
            <a:r>
              <a:rPr lang="en-US" sz="2600" b="1" dirty="0">
                <a:solidFill>
                  <a:srgbClr val="00B0F0"/>
                </a:solidFill>
              </a:rPr>
              <a:t>Validation Script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</a:rPr>
              <a:t>A standalone script to test the model's functionality after loading artifacts, ensuring everything works correctly.</a:t>
            </a: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90931"/>
          </a:xfrm>
        </p:spPr>
        <p:txBody>
          <a:bodyPr/>
          <a:lstStyle/>
          <a:p>
            <a:r>
              <a:rPr lang="en-IN" sz="3600" dirty="0"/>
              <a:t>Key Features &amp; Implementation Highlights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9EE53A-3A87-9F53-AFEA-A64753514F23}"/>
              </a:ext>
            </a:extLst>
          </p:cNvPr>
          <p:cNvSpPr txBox="1"/>
          <p:nvPr/>
        </p:nvSpPr>
        <p:spPr>
          <a:xfrm>
            <a:off x="444500" y="1383527"/>
            <a:ext cx="1051957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B0F0"/>
                </a:solidFill>
              </a:rPr>
              <a:t>Modular Design: </a:t>
            </a:r>
            <a:r>
              <a:rPr lang="en-IN" sz="2800" dirty="0">
                <a:solidFill>
                  <a:schemeClr val="bg1"/>
                </a:solidFill>
              </a:rPr>
              <a:t>Separation of concerns with util.py handling all ML logic. </a:t>
            </a:r>
          </a:p>
          <a:p>
            <a:r>
              <a:rPr lang="en-IN" sz="2800" b="1" dirty="0">
                <a:solidFill>
                  <a:srgbClr val="00B0F0"/>
                </a:solidFill>
              </a:rPr>
              <a:t>Production Ready: </a:t>
            </a:r>
          </a:p>
          <a:p>
            <a:r>
              <a:rPr lang="en-IN" sz="2800" dirty="0">
                <a:solidFill>
                  <a:schemeClr val="bg1"/>
                </a:solidFill>
              </a:rPr>
              <a:t>Global variables to cache the loaded model (avoids reloading on every request). </a:t>
            </a:r>
          </a:p>
          <a:p>
            <a:r>
              <a:rPr lang="en-IN" sz="2800" dirty="0">
                <a:solidFill>
                  <a:schemeClr val="bg1"/>
                </a:solidFill>
              </a:rPr>
              <a:t>Comprehensive error handling and input validation. </a:t>
            </a:r>
          </a:p>
          <a:p>
            <a:r>
              <a:rPr lang="en-IN" sz="2800" b="1" dirty="0">
                <a:solidFill>
                  <a:srgbClr val="00B0F0"/>
                </a:solidFill>
              </a:rPr>
              <a:t>User-Friendly: </a:t>
            </a:r>
          </a:p>
          <a:p>
            <a:r>
              <a:rPr lang="en-IN" sz="2800" dirty="0">
                <a:solidFill>
                  <a:schemeClr val="bg1"/>
                </a:solidFill>
              </a:rPr>
              <a:t>Fuzzy Matching: Suggests correct location names if the user makes a spelling mistake (e.g., "J P Naga" -&gt; "JP Nagar"). </a:t>
            </a:r>
          </a:p>
          <a:p>
            <a:r>
              <a:rPr lang="en-IN" sz="2800" b="1" dirty="0">
                <a:solidFill>
                  <a:srgbClr val="00B0F0"/>
                </a:solidFill>
              </a:rPr>
              <a:t>Maintainable: </a:t>
            </a:r>
            <a:r>
              <a:rPr lang="en-IN" sz="2800" dirty="0">
                <a:solidFill>
                  <a:schemeClr val="bg1"/>
                </a:solidFill>
              </a:rPr>
              <a:t>Artifacts (model, columns) are stored separately, making model updates easy.</a:t>
            </a: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840230"/>
          </a:xfrm>
        </p:spPr>
        <p:txBody>
          <a:bodyPr/>
          <a:lstStyle/>
          <a:p>
            <a:r>
              <a:rPr lang="en-IN" sz="5400" dirty="0"/>
              <a:t>Demo</a:t>
            </a:r>
            <a:endParaRPr lang="en-US" sz="5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3CB21-7DDA-7271-2CCB-082150D8E978}"/>
              </a:ext>
            </a:extLst>
          </p:cNvPr>
          <p:cNvSpPr txBox="1"/>
          <p:nvPr/>
        </p:nvSpPr>
        <p:spPr>
          <a:xfrm>
            <a:off x="540689" y="1804947"/>
            <a:ext cx="93507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Show the user interface.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Select a location from the dynamic dropdown.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Enter values for Total Sq. Ft., BHK, and Bath.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Click "Predict" and display the estimated price.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(Optional) Demonstrate the fuzzy matching feature by entering a misspelled location. </a:t>
            </a:r>
          </a:p>
        </p:txBody>
      </p:sp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FC8D-0335-5D19-B29B-3A9CCF32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F11B3E-C01B-6938-BB8C-A1616789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Conclusion &amp; Future Enhancements</a:t>
            </a:r>
            <a:endParaRPr lang="en-US" sz="3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15C2A5-4F17-9A6E-992C-818371F2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ECA5FA-37C4-6572-AD1E-93022D804715}"/>
              </a:ext>
            </a:extLst>
          </p:cNvPr>
          <p:cNvSpPr txBox="1"/>
          <p:nvPr/>
        </p:nvSpPr>
        <p:spPr>
          <a:xfrm>
            <a:off x="444500" y="1236762"/>
            <a:ext cx="111325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>
                <a:solidFill>
                  <a:srgbClr val="00B0F0"/>
                </a:solidFill>
              </a:rPr>
              <a:t>Conclusion: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Successfully built a functional and accurate home price prediction system.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Demonstrates a complete pipeline from data training to a live web application. </a:t>
            </a:r>
          </a:p>
          <a:p>
            <a:r>
              <a:rPr lang="en-US" sz="2700" b="1" dirty="0">
                <a:solidFill>
                  <a:srgbClr val="00B0F0"/>
                </a:solidFill>
              </a:rPr>
              <a:t>Future Enhancements: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Integrate more features (e.g., proximity to metro, property age, furnishing status).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Retrain the model with newer, larger datasets.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Deploy the application to a cloud platform (e.g., Heroku, AWS, Azure).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bg1"/>
                </a:solidFill>
              </a:rPr>
              <a:t>Develop a more sophisticated and responsive frontend.</a:t>
            </a:r>
          </a:p>
        </p:txBody>
      </p:sp>
    </p:spTree>
    <p:extLst>
      <p:ext uri="{BB962C8B-B14F-4D97-AF65-F5344CB8AC3E}">
        <p14:creationId xmlns:p14="http://schemas.microsoft.com/office/powerpoint/2010/main" val="266859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9575" y="3013942"/>
            <a:ext cx="6836935" cy="1243584"/>
          </a:xfrm>
        </p:spPr>
        <p:txBody>
          <a:bodyPr/>
          <a:lstStyle/>
          <a:p>
            <a:r>
              <a:rPr lang="en-US" sz="8000" dirty="0"/>
              <a:t>Thank You..,</a:t>
            </a:r>
            <a:endParaRPr lang="en-GB" sz="80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45</TotalTime>
  <Words>858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Algerian</vt:lpstr>
      <vt:lpstr>Arial</vt:lpstr>
      <vt:lpstr>Calibri</vt:lpstr>
      <vt:lpstr>Courier New</vt:lpstr>
      <vt:lpstr>Trade Gothic LT Pro</vt:lpstr>
      <vt:lpstr>Trebuchet MS</vt:lpstr>
      <vt:lpstr>Wingdings</vt:lpstr>
      <vt:lpstr>Office Theme</vt:lpstr>
      <vt:lpstr>Title: Bangalore House Price Prediction</vt:lpstr>
      <vt:lpstr>Problem Statement &amp; Project Goal</vt:lpstr>
      <vt:lpstr>Solution Overview</vt:lpstr>
      <vt:lpstr>System Architecture &amp; Data Flow</vt:lpstr>
      <vt:lpstr>Technology Stack</vt:lpstr>
      <vt:lpstr> Code Structure Deep Dive (1/2)</vt:lpstr>
      <vt:lpstr>Code Structure Deep Dive (2/2)</vt:lpstr>
      <vt:lpstr>Key Features &amp; Implementation Highlights</vt:lpstr>
      <vt:lpstr>Demo</vt:lpstr>
      <vt:lpstr>Conclusion &amp; Future Enhancements</vt:lpstr>
      <vt:lpstr>Thank You..,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ushaannadevara@outlook.com</dc:creator>
  <cp:lastModifiedBy>ushaannadevara@outlook.com</cp:lastModifiedBy>
  <cp:revision>2</cp:revision>
  <dcterms:created xsi:type="dcterms:W3CDTF">2025-11-25T04:50:15Z</dcterms:created>
  <dcterms:modified xsi:type="dcterms:W3CDTF">2025-11-25T05:49:15Z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